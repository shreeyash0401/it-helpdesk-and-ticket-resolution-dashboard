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731520"/>
            <a:ext cx="1828800" cy="182880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2286000"/>
            <a:ext cx="1097280" cy="1097280"/>
          </a:xfrm>
          <a:prstGeom prst="ellipse">
            <a:avLst/>
          </a:prstGeom>
          <a:solidFill>
            <a:srgbClr val="5A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108960"/>
            <a:ext cx="640080" cy="640080"/>
          </a:xfrm>
          <a:prstGeom prst="ellipse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4297680"/>
            <a:ext cx="1280160" cy="1280160"/>
          </a:xfrm>
          <a:prstGeom prst="ellipse">
            <a:avLst/>
          </a:prstGeom>
          <a:solidFill>
            <a:srgbClr val="18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31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D2DC"/>
                </a:solidFill>
                <a:latin typeface="Aptos"/>
              </a:rPr>
              <a:t>DATA → INSIGHTS →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7772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Power BI
Data Analytics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6675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D6E0ED"/>
                </a:solidFill>
                <a:latin typeface="Aptos"/>
              </a:rPr>
              <a:t>An interactive dashboard project for turning raw data into clear, useful insights.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617720"/>
            <a:ext cx="105156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956048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Prepared by: [Your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492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Project topic: [Add your specific topic]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63640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AD2DC"/>
                </a:solidFill>
                <a:latin typeface="Aptos"/>
              </a:rPr>
              <a:t>POWER BI  •  DATA VISUALIZATION  •  BUSINESS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ADB5"/>
                </a:solidFill>
                <a:latin typeface="Aptos"/>
              </a:rPr>
              <a:t>POWER BI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8"/>
                </a:solidFill>
                <a:latin typeface="Aptos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914400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22F3E"/>
                </a:solidFill>
                <a:latin typeface="Aptos"/>
              </a:rPr>
              <a:t>This project demonstrates how data can be prepared, analyzed, and presented through an interactive Power BI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73152" cy="20574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2608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1F38"/>
                </a:solidFill>
                <a:latin typeface="Aptos"/>
              </a:rPr>
              <a:t>01  Prepare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01568"/>
            <a:ext cx="3017520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98F"/>
                </a:solidFill>
                <a:latin typeface="Aptos"/>
              </a:rPr>
              <a:t>Organize the source data, review quality, and transform it into a useful analysis-ready format.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743200"/>
            <a:ext cx="73152" cy="205740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92608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1F38"/>
                </a:solidFill>
                <a:latin typeface="Aptos"/>
              </a:rPr>
              <a:t>02  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401568"/>
            <a:ext cx="3017520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98F"/>
                </a:solidFill>
                <a:latin typeface="Aptos"/>
              </a:rPr>
              <a:t>Explore measures, patterns, and comparisons that help answer the project's key questions.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74320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743200"/>
            <a:ext cx="73152" cy="2057400"/>
          </a:xfrm>
          <a:prstGeom prst="rect">
            <a:avLst/>
          </a:prstGeom>
          <a:solidFill>
            <a:srgbClr val="5A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92608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1F38"/>
                </a:solidFill>
                <a:latin typeface="Aptos"/>
              </a:rPr>
              <a:t>03  Communicate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401568"/>
            <a:ext cx="3017520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98F"/>
                </a:solidFill>
                <a:latin typeface="Aptos"/>
              </a:rPr>
              <a:t>Present results with visuals, KPIs, filters, and a clear dashboard layout.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864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98F"/>
                </a:solidFill>
                <a:latin typeface="Aptos"/>
              </a:rPr>
              <a:t>Replace the generic wording with the exact subject and business context of your dashboard.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98F"/>
                </a:solidFill>
                <a:latin typeface="Aptos"/>
              </a:rPr>
              <a:t>PROJECT PRESENTATION  •  EDITABLE 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798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ADB5"/>
                </a:solidFill>
                <a:latin typeface="Aptos"/>
              </a:rPr>
              <a:t>POWER BI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8"/>
                </a:solidFill>
                <a:latin typeface="Aptos"/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914400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22F3E"/>
                </a:solidFill>
                <a:latin typeface="Aptos"/>
              </a:rPr>
              <a:t>The project is designed to make data easier to understand and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9966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22F3E"/>
                </a:solidFill>
                <a:latin typeface="Aptos"/>
              </a:defRPr>
            </a:pPr>
            <a:r>
              <a:t>Prepare and organize data for consistent analysis.</a:t>
            </a:r>
          </a:p>
          <a:p>
            <a:pPr>
              <a:spcAft>
                <a:spcPts val="1300"/>
              </a:spcAft>
              <a:defRPr sz="1800">
                <a:solidFill>
                  <a:srgbClr val="222F3E"/>
                </a:solidFill>
                <a:latin typeface="Aptos"/>
              </a:defRPr>
            </a:pPr>
            <a:r>
              <a:t>Use Power BI to build clear, interactive visualizations.</a:t>
            </a:r>
          </a:p>
          <a:p>
            <a:pPr>
              <a:spcAft>
                <a:spcPts val="1300"/>
              </a:spcAft>
              <a:defRPr sz="1800">
                <a:solidFill>
                  <a:srgbClr val="222F3E"/>
                </a:solidFill>
                <a:latin typeface="Aptos"/>
              </a:defRPr>
            </a:pPr>
            <a:r>
              <a:t>Summarize important metrics through KPI cards and charts.</a:t>
            </a:r>
          </a:p>
          <a:p>
            <a:pPr>
              <a:spcAft>
                <a:spcPts val="1300"/>
              </a:spcAft>
              <a:defRPr sz="1800">
                <a:solidFill>
                  <a:srgbClr val="222F3E"/>
                </a:solidFill>
                <a:latin typeface="Aptos"/>
              </a:defRPr>
            </a:pPr>
            <a:r>
              <a:t>Identify trends, comparisons, and patterns in the available data.</a:t>
            </a:r>
          </a:p>
          <a:p>
            <a:pPr>
              <a:spcAft>
                <a:spcPts val="1300"/>
              </a:spcAft>
              <a:defRPr sz="1800">
                <a:solidFill>
                  <a:srgbClr val="222F3E"/>
                </a:solidFill>
                <a:latin typeface="Aptos"/>
              </a:defRPr>
            </a:pPr>
            <a:r>
              <a:t>Communicate findings in a format that supports informed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98F"/>
                </a:solidFill>
                <a:latin typeface="Aptos"/>
              </a:rPr>
              <a:t>PROJECT PRESENTATION  •  EDITABLE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798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ADB5"/>
                </a:solidFill>
                <a:latin typeface="Aptos"/>
              </a:rPr>
              <a:t>POWER BI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8"/>
                </a:solidFill>
                <a:latin typeface="Aptos"/>
              </a:rPr>
              <a:t>Project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914400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2331720"/>
            <a:ext cx="212140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542032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ADB5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063240"/>
            <a:ext cx="180136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F38"/>
                </a:solidFill>
                <a:latin typeface="Aptos"/>
              </a:rPr>
              <a:t>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547872"/>
            <a:ext cx="1801367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98F"/>
                </a:solidFill>
                <a:latin typeface="Aptos"/>
              </a:rPr>
              <a:t>Gather the source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306324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ADB5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8376" y="2331720"/>
            <a:ext cx="212140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2542032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B94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3063240"/>
            <a:ext cx="180136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F38"/>
                </a:solidFill>
                <a:latin typeface="Aptos"/>
              </a:rPr>
              <a:t>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3547872"/>
            <a:ext cx="1801367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98F"/>
                </a:solidFill>
                <a:latin typeface="Aptos"/>
              </a:rPr>
              <a:t>Handle missing or inconsistent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7" y="306324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ADB5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58383" y="2331720"/>
            <a:ext cx="212140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22975" y="2542032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ADB5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2975" y="3063240"/>
            <a:ext cx="180136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F38"/>
                </a:solidFill>
                <a:latin typeface="Aptos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2975" y="3547872"/>
            <a:ext cx="1801367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98F"/>
                </a:solidFill>
                <a:latin typeface="Aptos"/>
              </a:rPr>
              <a:t>Set up fields, relationships, and measures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306324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ADB5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08392" y="2331720"/>
            <a:ext cx="212140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72983" y="2542032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B942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72983" y="3063240"/>
            <a:ext cx="180136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F38"/>
                </a:solidFill>
                <a:latin typeface="Aptos"/>
              </a:rPr>
              <a:t>Visualize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2983" y="3547872"/>
            <a:ext cx="1801367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98F"/>
                </a:solidFill>
                <a:latin typeface="Aptos"/>
              </a:rPr>
              <a:t>Build charts, KPIs, and filters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38944" y="306324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ADB5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2331720"/>
            <a:ext cx="212140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22992" y="2542032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ADB5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3063240"/>
            <a:ext cx="180136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F38"/>
                </a:solidFill>
                <a:latin typeface="Aptos"/>
              </a:rP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3547872"/>
            <a:ext cx="1801367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98F"/>
                </a:solidFill>
                <a:latin typeface="Aptos"/>
              </a:rPr>
              <a:t>Validate results and refine the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6636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98F"/>
                </a:solidFill>
                <a:latin typeface="Aptos"/>
              </a:rPr>
              <a:t>The workflow may vary depending on the dataset and the requirements of the analysis.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98F"/>
                </a:solidFill>
                <a:latin typeface="Aptos"/>
              </a:rPr>
              <a:t>PROJECT PRESENTATION  •  EDITABLE TEMPLATE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798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ADB5"/>
                </a:solidFill>
                <a:latin typeface="Aptos"/>
              </a:rPr>
              <a:t>POWER BI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8"/>
                </a:solidFill>
                <a:latin typeface="Aptos"/>
              </a:rPr>
              <a:t>Dashboard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914400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22F3E"/>
                </a:solidFill>
                <a:latin typeface="Aptos"/>
              </a:rPr>
              <a:t>A good dashboard turns the most relevant information into a quick visual summary.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23160"/>
            <a:ext cx="105156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9798F"/>
                </a:solidFill>
                <a:latin typeface="Aptos"/>
              </a:rPr>
              <a:t>DASHBOARD PREVIEW — replace with a screenshot from your PBIX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3063240"/>
            <a:ext cx="2103120" cy="731520"/>
          </a:xfrm>
          <a:prstGeom prst="roundRect">
            <a:avLst/>
          </a:prstGeom>
          <a:solidFill>
            <a:srgbClr val="D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2461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8"/>
                </a:solidFill>
                <a:latin typeface="Aptos"/>
              </a:rPr>
              <a:t>KPI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0168" y="3063240"/>
            <a:ext cx="2103120" cy="731520"/>
          </a:xfrm>
          <a:prstGeom prst="roundRect">
            <a:avLst/>
          </a:prstGeom>
          <a:solidFill>
            <a:srgbClr val="D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32461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8"/>
                </a:solidFill>
                <a:latin typeface="Aptos"/>
              </a:rPr>
              <a:t>KPI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17336" y="3063240"/>
            <a:ext cx="2103120" cy="731520"/>
          </a:xfrm>
          <a:prstGeom prst="roundRect">
            <a:avLst/>
          </a:prstGeom>
          <a:solidFill>
            <a:srgbClr val="D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8776" y="32461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8"/>
                </a:solidFill>
                <a:latin typeface="Aptos"/>
              </a:rPr>
              <a:t>KPI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04504" y="3063240"/>
            <a:ext cx="2103120" cy="731520"/>
          </a:xfrm>
          <a:prstGeom prst="roundRect">
            <a:avLst/>
          </a:prstGeom>
          <a:solidFill>
            <a:srgbClr val="D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95944" y="32461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F38"/>
                </a:solidFill>
                <a:latin typeface="Aptos"/>
              </a:rPr>
              <a:t>KPI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69080"/>
            <a:ext cx="4572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46227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9798F"/>
                </a:solidFill>
                <a:latin typeface="Aptos"/>
              </a:rPr>
              <a:t>TREND / LINE CHART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069080"/>
            <a:ext cx="4572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46227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9798F"/>
                </a:solidFill>
                <a:latin typeface="Aptos"/>
              </a:rPr>
              <a:t>CATEGORY / BAR CHART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98F"/>
                </a:solidFill>
                <a:latin typeface="Aptos"/>
              </a:rPr>
              <a:t>PROJECT PRESENTATION  •  EDITABLE TEMPLATE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798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ADB5"/>
                </a:solidFill>
                <a:latin typeface="Aptos"/>
              </a:rPr>
              <a:t>POWER BI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8"/>
                </a:solidFill>
                <a:latin typeface="Aptos"/>
              </a:rPr>
              <a:t>Tools &amp; Technologies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914400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73152" cy="210312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1F38"/>
                </a:solidFill>
                <a:latin typeface="Aptos"/>
              </a:rPr>
              <a:t>Microsoft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87168"/>
            <a:ext cx="297180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98F"/>
                </a:solidFill>
                <a:latin typeface="Aptos"/>
              </a:rPr>
              <a:t>Dashboard design, interactive reports, data modeling, and visualization.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73152" cy="210312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011680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1F38"/>
                </a:solidFill>
                <a:latin typeface="Aptos"/>
              </a:rPr>
              <a:t>Excel /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87168"/>
            <a:ext cx="297180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98F"/>
                </a:solidFill>
                <a:latin typeface="Aptos"/>
              </a:rPr>
              <a:t>Potential source formats for storing and preparing project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73152" cy="2103120"/>
          </a:xfrm>
          <a:prstGeom prst="rect">
            <a:avLst/>
          </a:prstGeom>
          <a:solidFill>
            <a:srgbClr val="5A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011680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1F38"/>
                </a:solidFill>
                <a:latin typeface="Aptos"/>
              </a:rPr>
              <a:t>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487168"/>
            <a:ext cx="297180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98F"/>
                </a:solidFill>
                <a:latin typeface="Aptos"/>
              </a:rPr>
              <a:t>Versioned project repository for sharing the dashboard and supporting files.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98F"/>
                </a:solidFill>
                <a:latin typeface="Aptos"/>
              </a:rPr>
              <a:t>Include only the tools that were actually used in your project.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98F"/>
                </a:solidFill>
                <a:latin typeface="Aptos"/>
              </a:rPr>
              <a:t>PROJECT PRESENTATION  •  EDITABLE TEMPLATE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798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ADB5"/>
                </a:solidFill>
                <a:latin typeface="Aptos"/>
              </a:rPr>
              <a:t>POWER BI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8"/>
                </a:solidFill>
                <a:latin typeface="Aptos"/>
              </a:rPr>
              <a:t>Repository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914400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73152" cy="96012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20240"/>
            <a:ext cx="4663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1F38"/>
                </a:solidFill>
                <a:latin typeface="Aptos"/>
              </a:rPr>
              <a:t>01_Dataset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46634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98F"/>
                </a:solidFill>
                <a:latin typeface="Aptos"/>
              </a:rPr>
              <a:t>Source files and prepared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73152" cy="96012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4663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1F38"/>
                </a:solidFill>
                <a:latin typeface="Aptos"/>
              </a:rPr>
              <a:t>02_PowerBI_Dashboard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95728"/>
            <a:ext cx="46634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98F"/>
                </a:solidFill>
                <a:latin typeface="Aptos"/>
              </a:rPr>
              <a:t>Power BI .pbix 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7180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971800"/>
            <a:ext cx="73152" cy="96012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154680"/>
            <a:ext cx="4663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1F38"/>
                </a:solidFill>
                <a:latin typeface="Aptos"/>
              </a:rPr>
              <a:t>03_Project_Presentation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630168"/>
            <a:ext cx="46634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98F"/>
                </a:solidFill>
                <a:latin typeface="Aptos"/>
              </a:rPr>
              <a:t>Presentation slides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97180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971800"/>
            <a:ext cx="73152" cy="96012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154680"/>
            <a:ext cx="4663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1F38"/>
                </a:solidFill>
                <a:latin typeface="Aptos"/>
              </a:rPr>
              <a:t>04_Documentation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630168"/>
            <a:ext cx="46634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98F"/>
                </a:solidFill>
                <a:latin typeface="Aptos"/>
              </a:rPr>
              <a:t>Methodology and project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0624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206240"/>
            <a:ext cx="73152" cy="96012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389120"/>
            <a:ext cx="4663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1F38"/>
                </a:solidFill>
                <a:latin typeface="Aptos"/>
              </a:rPr>
              <a:t>05_Certificate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864607"/>
            <a:ext cx="46634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98F"/>
                </a:solidFill>
                <a:latin typeface="Aptos"/>
              </a:rPr>
              <a:t>Relevant certificate, if applicable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20624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206240"/>
            <a:ext cx="73152" cy="96012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389120"/>
            <a:ext cx="4663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1F38"/>
                </a:solidFill>
                <a:latin typeface="Aptos"/>
              </a:rPr>
              <a:t>README.md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864607"/>
            <a:ext cx="46634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98F"/>
                </a:solidFill>
                <a:latin typeface="Aptos"/>
              </a:rPr>
              <a:t>Project summary and usage notes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98F"/>
                </a:solidFill>
                <a:latin typeface="Aptos"/>
              </a:rPr>
              <a:t>PROJECT PRESENTATION  •  EDITABLE TEMPLATE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798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ADB5"/>
                </a:solidFill>
                <a:latin typeface="Aptos"/>
              </a:rPr>
              <a:t>POWER BI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F38"/>
                </a:solidFill>
                <a:latin typeface="Aptos"/>
              </a:rPr>
              <a:t>Expected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914400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241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222F3E"/>
                </a:solidFill>
                <a:latin typeface="Aptos"/>
              </a:defRPr>
            </a:pPr>
            <a:r>
              <a:t>A clear, interactive view of the dataset and its key measures.</a:t>
            </a:r>
          </a:p>
          <a:p>
            <a:pPr>
              <a:spcAft>
                <a:spcPts val="1800"/>
              </a:spcAft>
              <a:defRPr sz="1900">
                <a:solidFill>
                  <a:srgbClr val="222F3E"/>
                </a:solidFill>
                <a:latin typeface="Aptos"/>
              </a:defRPr>
            </a:pPr>
            <a:r>
              <a:t>Easier comparison of categories, time periods, or other relevant dimensions.</a:t>
            </a:r>
          </a:p>
          <a:p>
            <a:pPr>
              <a:spcAft>
                <a:spcPts val="1800"/>
              </a:spcAft>
              <a:defRPr sz="1900">
                <a:solidFill>
                  <a:srgbClr val="222F3E"/>
                </a:solidFill>
                <a:latin typeface="Aptos"/>
              </a:defRPr>
            </a:pPr>
            <a:r>
              <a:t>A reusable report that can be explored with filters and slicers, where included.</a:t>
            </a:r>
          </a:p>
          <a:p>
            <a:pPr>
              <a:spcAft>
                <a:spcPts val="1800"/>
              </a:spcAft>
              <a:defRPr sz="1900">
                <a:solidFill>
                  <a:srgbClr val="222F3E"/>
                </a:solidFill>
                <a:latin typeface="Aptos"/>
              </a:defRPr>
            </a:pPr>
            <a:r>
              <a:t>A well-organized project repository for review, presentation, and future improvement.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57800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9798F"/>
                </a:solidFill>
                <a:latin typeface="Aptos"/>
              </a:rPr>
              <a:t>Note: Add verified findings and actual KPI values after reviewing your 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98F"/>
                </a:solidFill>
                <a:latin typeface="Aptos"/>
              </a:rPr>
              <a:t>PROJECT PRESENTATION  •  EDITABLE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798F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AD2DC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795527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From raw data
to useful insights.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37560"/>
            <a:ext cx="79552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D7E1EE"/>
                </a:solidFill>
                <a:latin typeface="Aptos"/>
              </a:rPr>
              <a:t>This project demonstrates how Power BI can help organize information, visualize patterns, and communicate analysis in an accessible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12064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AD2DC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6928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EBED3"/>
                </a:solidFill>
                <a:latin typeface="Aptos"/>
              </a:rPr>
              <a:t>[Your Name]  •  [Project Title]  •  [Date]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EBED3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