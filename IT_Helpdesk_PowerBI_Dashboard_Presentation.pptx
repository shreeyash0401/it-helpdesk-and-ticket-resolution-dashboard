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548640"/>
            <a:ext cx="2743200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914400"/>
            <a:ext cx="2011680" cy="1188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1280160"/>
            <a:ext cx="2377440" cy="1188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77240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IT HELPDESK
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71323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>
                <a:solidFill>
                  <a:srgbClr val="BFDBFE"/>
                </a:solidFill>
                <a:latin typeface="Aptos"/>
              </a:rPr>
              <a:t>Power BI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6583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Ticket trends • Technician performance • SLA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BD5E1"/>
                </a:solidFill>
                <a:latin typeface="Aptos"/>
              </a:rPr>
              <a:t>Dataset: IT_Helpdesk_Tickets_Cleaned.csv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08076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BD5E1"/>
                </a:solidFill>
                <a:latin typeface="Aptos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Purpose and business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4243A"/>
                </a:solidFill>
                <a:latin typeface="Aptos"/>
              </a:rPr>
              <a:t>What this dashboard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48840"/>
            <a:ext cx="5212080" cy="329184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3144"/>
                </a:solidFill>
                <a:latin typeface="Aptos"/>
              </a:defRPr>
            </a:pPr>
            <a:r>
              <a:t>• Summarizes helpdesk ticket volume and status</a:t>
            </a:r>
          </a:p>
          <a:p>
            <a:pPr>
              <a:spcAft>
                <a:spcPts val="1000"/>
              </a:spcAft>
              <a:defRPr sz="1600">
                <a:solidFill>
                  <a:srgbClr val="233144"/>
                </a:solidFill>
                <a:latin typeface="Aptos"/>
              </a:defRPr>
            </a:pPr>
            <a:r>
              <a:t>• Tracks resolution time and SLA outcomes</a:t>
            </a:r>
          </a:p>
          <a:p>
            <a:pPr>
              <a:spcAft>
                <a:spcPts val="1000"/>
              </a:spcAft>
              <a:defRPr sz="1600">
                <a:solidFill>
                  <a:srgbClr val="233144"/>
                </a:solidFill>
                <a:latin typeface="Aptos"/>
              </a:defRPr>
            </a:pPr>
            <a:r>
              <a:t>• Compares workload across technicians and departments</a:t>
            </a:r>
          </a:p>
          <a:p>
            <a:pPr>
              <a:spcAft>
                <a:spcPts val="1000"/>
              </a:spcAft>
              <a:defRPr sz="1600">
                <a:solidFill>
                  <a:srgbClr val="233144"/>
                </a:solidFill>
                <a:latin typeface="Aptos"/>
              </a:defRPr>
            </a:pPr>
            <a:r>
              <a:t>• Supports interactive investigation through filters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9377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297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REPORT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4206240" cy="256032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3144"/>
                </a:solidFill>
                <a:latin typeface="Aptos"/>
              </a:defRPr>
            </a:pPr>
            <a:r>
              <a:t>01  Executive Overview</a:t>
            </a:r>
          </a:p>
          <a:p>
            <a:pPr>
              <a:spcAft>
                <a:spcPts val="1000"/>
              </a:spcAft>
              <a:defRPr sz="1500">
                <a:solidFill>
                  <a:srgbClr val="233144"/>
                </a:solidFill>
                <a:latin typeface="Aptos"/>
              </a:defRPr>
            </a:pPr>
            <a:r>
              <a:t>02  Ticket Analysis</a:t>
            </a:r>
          </a:p>
          <a:p>
            <a:pPr>
              <a:spcAft>
                <a:spcPts val="1000"/>
              </a:spcAft>
              <a:defRPr sz="1500">
                <a:solidFill>
                  <a:srgbClr val="233144"/>
                </a:solidFill>
                <a:latin typeface="Aptos"/>
              </a:defRPr>
            </a:pPr>
            <a:r>
              <a:t>03  Technician Performance</a:t>
            </a:r>
          </a:p>
          <a:p>
            <a:pPr>
              <a:spcAft>
                <a:spcPts val="1000"/>
              </a:spcAft>
              <a:defRPr sz="1500">
                <a:solidFill>
                  <a:srgbClr val="233144"/>
                </a:solidFill>
                <a:latin typeface="Aptos"/>
              </a:defRPr>
            </a:pPr>
            <a:r>
              <a:t>04  SLA &amp;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Questions the report is designed to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56232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01368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Monitor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58568"/>
            <a:ext cx="4160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3144"/>
                </a:solidFill>
                <a:latin typeface="Aptos"/>
              </a:rPr>
              <a:t>How many tickets arrive and how does volume change over time?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856232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801368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Track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258568"/>
            <a:ext cx="4160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3144"/>
                </a:solidFill>
                <a:latin typeface="Aptos"/>
              </a:rPr>
              <a:t>How many tickets are resolved, pending, in progress, or escalated?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005072"/>
            <a:ext cx="320040" cy="3200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950207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Compare workload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07407"/>
            <a:ext cx="4160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3144"/>
                </a:solidFill>
                <a:latin typeface="Aptos"/>
              </a:rPr>
              <a:t>Which categories, departments, channels, and technicians handle the most tickets?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60" y="4005072"/>
            <a:ext cx="320040" cy="320040"/>
          </a:xfrm>
          <a:prstGeom prst="ellipse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950207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Improve SLA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407407"/>
            <a:ext cx="4160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233144"/>
                </a:solidFill>
                <a:latin typeface="Aptos"/>
              </a:rPr>
              <a:t>How many tickets met or breached their service targets?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Dataset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Source data used in the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55063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TOTAL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057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0876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508760"/>
            <a:ext cx="731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655063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2057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15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50876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1508760"/>
            <a:ext cx="73152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655063"/>
            <a:ext cx="2057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RESOLVED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011680"/>
            <a:ext cx="2057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383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508760"/>
            <a:ext cx="2743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508760"/>
            <a:ext cx="73152" cy="1325880"/>
          </a:xfrm>
          <a:prstGeom prst="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55063"/>
            <a:ext cx="2423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RECORDED RESOLUTION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011680"/>
            <a:ext cx="2423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383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487168"/>
            <a:ext cx="24231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Nonblank Resolution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4612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Key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03320"/>
            <a:ext cx="5029200" cy="201168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Ticket ID and Created Date</a:t>
            </a:r>
          </a:p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Category, Priority, Channel, Department</a:t>
            </a:r>
          </a:p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Technician and Status</a:t>
            </a:r>
          </a:p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Resolution Hours, SLA Target Hours, SLA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Data preparation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703320"/>
            <a:ext cx="4937760" cy="201168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Use Date and numeric data types correctly</a:t>
            </a:r>
          </a:p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Sort Month by Month Number</a:t>
            </a:r>
          </a:p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Resolution Hours is blank for unresolved records</a:t>
            </a:r>
          </a:p>
          <a:p>
            <a:pPr>
              <a:spcAft>
                <a:spcPts val="1000"/>
              </a:spcAft>
              <a:defRPr sz="1200">
                <a:solidFill>
                  <a:srgbClr val="233144"/>
                </a:solidFill>
                <a:latin typeface="Aptos"/>
              </a:defRPr>
            </a:pPr>
            <a:r>
              <a:t>• SLA compliance excludes Not Yet Resolved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metrics from the supplied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544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00784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TOTAL TICKETS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554480"/>
            <a:ext cx="73152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700784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RESOLVED 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5740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383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5448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55448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RESOLUTION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5740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63.8%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55448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554480"/>
            <a:ext cx="73152" cy="1417320"/>
          </a:xfrm>
          <a:prstGeom prst="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700784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AVG.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5740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10.05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How to interpret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4937760" cy="155448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Resolution rate = resolved tickets ÷ all tickets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Average resolution uses tickets with a recorded resolution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47472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Management 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931920"/>
            <a:ext cx="5029200" cy="164592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217 tickets are not marked Resolved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Use priority, age, and SLA views to decide which backlog items need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Ticket Status &amp;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Current workload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43A"/>
                </a:solidFill>
                <a:latin typeface="Aptos"/>
              </a:rPr>
              <a:t>Tickets by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92807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Resolved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2148" y="1911095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2148" y="1911095"/>
            <a:ext cx="1730063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1874519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383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03220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In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2148" y="2921508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2148" y="2921508"/>
            <a:ext cx="429127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2884932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1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2148" y="3931919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2148" y="3931919"/>
            <a:ext cx="388473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3895344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24044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Escalated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2148" y="4942331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62148" y="4942331"/>
            <a:ext cx="16261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4905756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50876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43A"/>
                </a:solidFill>
                <a:latin typeface="Aptos"/>
              </a:rPr>
              <a:t>Tickets by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92807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5708" y="1911095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5708" y="1911095"/>
            <a:ext cx="2482617" cy="1645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00232" y="1874519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229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903220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Medium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5708" y="2921508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85708" y="2921508"/>
            <a:ext cx="2363365" cy="1645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00232" y="2884932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218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13631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High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5708" y="3931919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85708" y="3931919"/>
            <a:ext cx="1300935" cy="1645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00232" y="3895344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24044"/>
            <a:ext cx="1824228" cy="9921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Critical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5708" y="4942331"/>
            <a:ext cx="2710281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85708" y="4942331"/>
            <a:ext cx="357757" cy="16459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00232" y="4905756"/>
            <a:ext cx="521208" cy="1010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Ticket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Issue categories and intake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486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43A"/>
                </a:solidFill>
                <a:latin typeface="Aptos"/>
              </a:rPr>
              <a:t>Tickets by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92807"/>
            <a:ext cx="1920239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0904" y="1911095"/>
            <a:ext cx="2852928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60904" y="1911095"/>
            <a:ext cx="277512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874519"/>
            <a:ext cx="548640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4036"/>
            <a:ext cx="1920239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60904" y="2592324"/>
            <a:ext cx="2852928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60904" y="2592324"/>
            <a:ext cx="2749185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555748"/>
            <a:ext cx="548640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55264"/>
            <a:ext cx="1920239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Email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0904" y="3273552"/>
            <a:ext cx="2852928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60904" y="3273552"/>
            <a:ext cx="2645442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3236976"/>
            <a:ext cx="548640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6491"/>
            <a:ext cx="1920239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Software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60904" y="3954779"/>
            <a:ext cx="2852928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60904" y="3954779"/>
            <a:ext cx="2567635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3918204"/>
            <a:ext cx="548640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1920239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Printer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60904" y="4636008"/>
            <a:ext cx="2852928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60904" y="4636008"/>
            <a:ext cx="241202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4599432"/>
            <a:ext cx="548640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98948"/>
            <a:ext cx="1920239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Access &amp; Security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60904" y="5317236"/>
            <a:ext cx="2852928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60904" y="5317236"/>
            <a:ext cx="2412020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5280660"/>
            <a:ext cx="548640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43A"/>
                </a:solidFill>
                <a:latin typeface="Aptos"/>
              </a:rPr>
              <a:t>Tickets by channel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892807"/>
            <a:ext cx="1760219" cy="1003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Chat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57031" y="1911095"/>
            <a:ext cx="2615184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57031" y="1911095"/>
            <a:ext cx="2582494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0" y="1874519"/>
            <a:ext cx="502920" cy="102184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914650"/>
            <a:ext cx="1760219" cy="1003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Portal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7031" y="2932938"/>
            <a:ext cx="2615184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031" y="2932938"/>
            <a:ext cx="2533459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0" y="2896362"/>
            <a:ext cx="502920" cy="102184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936491"/>
            <a:ext cx="1760219" cy="1003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Phone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57031" y="3954779"/>
            <a:ext cx="2615184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57031" y="3954779"/>
            <a:ext cx="2386355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0" y="3918204"/>
            <a:ext cx="502920" cy="102184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958334"/>
            <a:ext cx="1760219" cy="1003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Email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57031" y="4976622"/>
            <a:ext cx="2615184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57031" y="4976622"/>
            <a:ext cx="2304630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4940046"/>
            <a:ext cx="502920" cy="102184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Department &amp; Technician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Where tickets are assigned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43A"/>
                </a:solidFill>
                <a:latin typeface="Aptos"/>
              </a:rPr>
              <a:t>Tickets by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92807"/>
            <a:ext cx="1888236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7985" y="1911095"/>
            <a:ext cx="2805379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27985" y="1911095"/>
            <a:ext cx="268340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1264" y="1874519"/>
            <a:ext cx="539496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4036"/>
            <a:ext cx="1888236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CSE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7985" y="2592324"/>
            <a:ext cx="2805379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27985" y="2592324"/>
            <a:ext cx="263461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2555748"/>
            <a:ext cx="539496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55264"/>
            <a:ext cx="1888236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7985" y="3273552"/>
            <a:ext cx="2805379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27985" y="3273552"/>
            <a:ext cx="263461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1264" y="3236976"/>
            <a:ext cx="539496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108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6491"/>
            <a:ext cx="1888236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HR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27985" y="3954779"/>
            <a:ext cx="2805379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27985" y="3954779"/>
            <a:ext cx="2341881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1264" y="3918204"/>
            <a:ext cx="539496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1888236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Finance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27985" y="4636008"/>
            <a:ext cx="2805379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27985" y="4636008"/>
            <a:ext cx="2268697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1264" y="4599432"/>
            <a:ext cx="539496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298948"/>
            <a:ext cx="1888236" cy="6629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27985" y="5317236"/>
            <a:ext cx="2805379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627985" y="5317236"/>
            <a:ext cx="2073541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1264" y="5280660"/>
            <a:ext cx="539496" cy="6812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1508760"/>
            <a:ext cx="5166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4243A"/>
                </a:solidFill>
                <a:latin typeface="Aptos"/>
              </a:rPr>
              <a:t>Tickets by technician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1892807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Vijay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4969" y="1911095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4969" y="1911095"/>
            <a:ext cx="2567106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04804" y="1874519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403729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Bala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4969" y="2422017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14969" y="2422017"/>
            <a:ext cx="2358156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04804" y="2385441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2914650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Sneha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14969" y="2932938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14969" y="2932938"/>
            <a:ext cx="2298456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04804" y="2896362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425571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Meena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14969" y="3443859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14969" y="3443859"/>
            <a:ext cx="2298456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04804" y="3407283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77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3936491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Arun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4969" y="3954779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14969" y="3954779"/>
            <a:ext cx="2208905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04804" y="3918204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74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4447413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Divya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14969" y="4465700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14969" y="4465700"/>
            <a:ext cx="2179055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004804" y="4429125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73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4958334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Karthik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14969" y="4976622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214969" y="4976622"/>
            <a:ext cx="2059655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04804" y="4940046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69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469255"/>
            <a:ext cx="1808226" cy="49263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33144"/>
                </a:solidFill>
                <a:latin typeface="Aptos"/>
              </a:rPr>
              <a:t>Rahul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14969" y="5487543"/>
            <a:ext cx="2686507" cy="16459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14969" y="5487543"/>
            <a:ext cx="1940255" cy="16459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04804" y="5450967"/>
            <a:ext cx="516636" cy="5109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14243A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SLA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Understanding service-level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55063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SLA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314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508760"/>
            <a:ext cx="73152" cy="1325880"/>
          </a:xfrm>
          <a:prstGeom prst="rect">
            <a:avLst/>
          </a:prstGeom>
          <a:solidFill>
            <a:srgbClr val="DC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655063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SLA BREACHED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01168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69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73152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55063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NOT YET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8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217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50876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50876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655063"/>
            <a:ext cx="2240279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SLA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11680"/>
            <a:ext cx="2240279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82.0%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87168"/>
            <a:ext cx="2240279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Met ÷ (Met + Breached)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94760"/>
            <a:ext cx="4937760" cy="173736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Compliance denominator includes Met and Breached outcomes only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Not Yet Resolved tickets are excluded until an outcome can be determined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3756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Recommended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794760"/>
            <a:ext cx="4937760" cy="173736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Review breached tickets by priority and category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Monitor unresolved high-priority tickets and ageing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Resolution Time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Using recorded resolution 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2514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AVERAGE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2514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10.05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55448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86200" y="1554480"/>
            <a:ext cx="73152" cy="1417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700784"/>
            <a:ext cx="2514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MEDIAN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57400"/>
            <a:ext cx="2514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8.8 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55448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1554480"/>
            <a:ext cx="73152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700784"/>
            <a:ext cx="2514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64748B"/>
                </a:solidFill>
                <a:latin typeface="Aptos"/>
              </a:rPr>
              <a:t>RECORDED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057400"/>
            <a:ext cx="2514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500" b="1">
                <a:solidFill>
                  <a:srgbClr val="14243A"/>
                </a:solidFill>
                <a:latin typeface="Aptos"/>
              </a:rPr>
              <a:t>383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Suggested visuals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4846320" cy="164592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Average resolution hours by category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Resolution time bands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Average resolution hours by technician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Important caveat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977639"/>
            <a:ext cx="4846320" cy="164592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Only 383 records have a recorded resolution time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Avoid interpreting this average as the time for every ticket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4243A"/>
                </a:solidFill>
                <a:latin typeface="Aptos"/>
              </a:rPr>
              <a:t>Interactivity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How users explore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914400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IT Helpdesk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Recommended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029200" cy="310896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Date, priority, status, category, department and technician slicers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Cross-filtering between charts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Tooltips for definitions and detail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Drill-through to technician or category detail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Reset filters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4243A"/>
                </a:solidFill>
                <a:latin typeface="Aptos"/>
              </a:rPr>
              <a:t>Future enhancement: AI Helpdesk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029200" cy="320040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Power Apps: chat and ticket submission interface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Power Automate: workflow and notifications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Microsoft Lists / SharePoint: writable ticket storage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Approved AI service: natural-language answers</a:t>
            </a:r>
          </a:p>
          <a:p>
            <a:pPr>
              <a:spcAft>
                <a:spcPts val="1000"/>
              </a:spcAft>
              <a:defRPr sz="1300">
                <a:solidFill>
                  <a:srgbClr val="233144"/>
                </a:solidFill>
                <a:latin typeface="Aptos"/>
              </a:defRPr>
            </a:pPr>
            <a:r>
              <a:t>• Requires permissions, configuration and potentially additional licensing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9601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Conclusion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417320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7863840" cy="3108960"/>
          </a:xfrm>
          <a:prstGeom prst="rect">
            <a:avLst/>
          </a:prstGeom>
          <a:noFill/>
        </p:spPr>
        <p:txBody>
          <a:bodyPr wrap="square" lIns="73152" rIns="73152" tIns="54864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Use the dashboard to monitor volume, status, resolution and SLA outcomes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Validate metrics after every data refresh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Investigate the unresolved backlog and SLA breaches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Add interactive ticket creation and status lookup as a separate, connected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6858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BFDBFE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080760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CBD5E1"/>
                </a:solidFill>
                <a:latin typeface="Apto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